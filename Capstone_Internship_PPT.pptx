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0" y="76428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4038480" y="857160"/>
            <a:ext cx="4114440" cy="2314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/>
          <p:nvPr>
            <p:ph idx="2" type="sldImg"/>
          </p:nvPr>
        </p:nvSpPr>
        <p:spPr>
          <a:xfrm>
            <a:off x="4038480" y="857160"/>
            <a:ext cx="4114440" cy="2314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:notes"/>
          <p:cNvSpPr txBox="1"/>
          <p:nvPr>
            <p:ph idx="12" type="sldNum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0" y="76428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fdedc2a3e_0_0:notes"/>
          <p:cNvSpPr/>
          <p:nvPr>
            <p:ph idx="2" type="sldImg"/>
          </p:nvPr>
        </p:nvSpPr>
        <p:spPr>
          <a:xfrm>
            <a:off x="0" y="76428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fdedc2a3e_0_0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dfdedc2a3e_0_0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fdedc2a3e_0_7:notes"/>
          <p:cNvSpPr/>
          <p:nvPr>
            <p:ph idx="2" type="sldImg"/>
          </p:nvPr>
        </p:nvSpPr>
        <p:spPr>
          <a:xfrm>
            <a:off x="0" y="76428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fdedc2a3e_0_7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dfdedc2a3e_0_7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fdedc2a3e_0_14:notes"/>
          <p:cNvSpPr/>
          <p:nvPr>
            <p:ph idx="2" type="sldImg"/>
          </p:nvPr>
        </p:nvSpPr>
        <p:spPr>
          <a:xfrm>
            <a:off x="0" y="76428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fdedc2a3e_0_14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dfdedc2a3e_0_14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fdedc2a3e_0_21:notes"/>
          <p:cNvSpPr/>
          <p:nvPr>
            <p:ph idx="2" type="sldImg"/>
          </p:nvPr>
        </p:nvSpPr>
        <p:spPr>
          <a:xfrm>
            <a:off x="0" y="76428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fdedc2a3e_0_21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dfdedc2a3e_0_21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fdedc2a3e_0_34:notes"/>
          <p:cNvSpPr/>
          <p:nvPr>
            <p:ph idx="2" type="sldImg"/>
          </p:nvPr>
        </p:nvSpPr>
        <p:spPr>
          <a:xfrm>
            <a:off x="0" y="76428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fdedc2a3e_0_34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dfdedc2a3e_0_34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fdedc2a3e_1_15:notes"/>
          <p:cNvSpPr/>
          <p:nvPr>
            <p:ph idx="2" type="sldImg"/>
          </p:nvPr>
        </p:nvSpPr>
        <p:spPr>
          <a:xfrm>
            <a:off x="0" y="76428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fdedc2a3e_1_15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dfdedc2a3e_1_15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/>
          <p:nvPr>
            <p:ph idx="2" type="sldImg"/>
          </p:nvPr>
        </p:nvSpPr>
        <p:spPr>
          <a:xfrm>
            <a:off x="4038480" y="857160"/>
            <a:ext cx="4114440" cy="2314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:notes"/>
          <p:cNvSpPr txBox="1"/>
          <p:nvPr>
            <p:ph idx="12" type="sldNum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1760" cy="600480"/>
          </a:xfrm>
          <a:custGeom>
            <a:rect b="b" l="l" r="r" t="t"/>
            <a:pathLst>
              <a:path extrusionOk="0" h="600710" w="12192000">
                <a:moveTo>
                  <a:pt x="12192000" y="0"/>
                </a:moveTo>
                <a:lnTo>
                  <a:pt x="0" y="0"/>
                </a:lnTo>
                <a:lnTo>
                  <a:pt x="0" y="600455"/>
                </a:lnTo>
                <a:lnTo>
                  <a:pt x="12192000" y="6004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35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2191760" cy="600480"/>
          </a:xfrm>
          <a:custGeom>
            <a:rect b="b" l="l" r="r" t="t"/>
            <a:pathLst>
              <a:path extrusionOk="0" h="600710" w="12192000">
                <a:moveTo>
                  <a:pt x="0" y="600455"/>
                </a:moveTo>
                <a:lnTo>
                  <a:pt x="12192000" y="600455"/>
                </a:lnTo>
                <a:lnTo>
                  <a:pt x="12192000" y="0"/>
                </a:lnTo>
                <a:lnTo>
                  <a:pt x="0" y="0"/>
                </a:lnTo>
                <a:lnTo>
                  <a:pt x="0" y="600455"/>
                </a:lnTo>
                <a:close/>
              </a:path>
            </a:pathLst>
          </a:custGeom>
          <a:noFill/>
          <a:ln cap="flat" cmpd="sng" w="12700">
            <a:solidFill>
              <a:srgbClr val="30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0" y="6464880"/>
            <a:ext cx="12191760" cy="374760"/>
          </a:xfrm>
          <a:custGeom>
            <a:rect b="b" l="l" r="r" t="t"/>
            <a:pathLst>
              <a:path extrusionOk="0" h="375284" w="12192000">
                <a:moveTo>
                  <a:pt x="12192000" y="0"/>
                </a:moveTo>
                <a:lnTo>
                  <a:pt x="0" y="0"/>
                </a:lnTo>
                <a:lnTo>
                  <a:pt x="0" y="374903"/>
                </a:lnTo>
                <a:lnTo>
                  <a:pt x="12192000" y="374903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35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0" y="6464880"/>
            <a:ext cx="12191760" cy="374760"/>
          </a:xfrm>
          <a:custGeom>
            <a:rect b="b" l="l" r="r" t="t"/>
            <a:pathLst>
              <a:path extrusionOk="0" h="375284" w="12192000">
                <a:moveTo>
                  <a:pt x="0" y="374903"/>
                </a:moveTo>
                <a:lnTo>
                  <a:pt x="12192000" y="374903"/>
                </a:lnTo>
                <a:lnTo>
                  <a:pt x="12192000" y="0"/>
                </a:lnTo>
                <a:lnTo>
                  <a:pt x="0" y="0"/>
                </a:lnTo>
                <a:lnTo>
                  <a:pt x="0" y="374903"/>
                </a:lnTo>
                <a:close/>
              </a:path>
            </a:pathLst>
          </a:custGeom>
          <a:noFill/>
          <a:ln cap="flat" cmpd="sng" w="12700">
            <a:solidFill>
              <a:srgbClr val="30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"/>
          <p:cNvSpPr txBox="1"/>
          <p:nvPr>
            <p:ph type="title"/>
          </p:nvPr>
        </p:nvSpPr>
        <p:spPr>
          <a:xfrm>
            <a:off x="1774080" y="5760"/>
            <a:ext cx="8643600" cy="5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1826640" y="1324080"/>
            <a:ext cx="8545320" cy="20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0035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0035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0035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0035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0035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649040" y="6590160"/>
            <a:ext cx="2894040" cy="15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sz="18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11087280" y="6590160"/>
            <a:ext cx="213120" cy="15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0656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0"/>
            <a:ext cx="12191760" cy="685764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35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0" y="0"/>
            <a:ext cx="12191760" cy="6857640"/>
          </a:xfrm>
          <a:custGeom>
            <a:rect b="b" l="l" r="r" t="t"/>
            <a:pathLst>
              <a:path extrusionOk="0" h="6858000" w="12192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noFill/>
          <a:ln cap="flat" cmpd="sng" w="12700">
            <a:solidFill>
              <a:srgbClr val="30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6440" y="2043360"/>
            <a:ext cx="11558520" cy="48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649040" y="6590160"/>
            <a:ext cx="2894040" cy="15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sz="18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11087280" y="6590160"/>
            <a:ext cx="213120" cy="15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0656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1760" cy="600480"/>
          </a:xfrm>
          <a:custGeom>
            <a:rect b="b" l="l" r="r" t="t"/>
            <a:pathLst>
              <a:path extrusionOk="0" h="600710" w="12192000">
                <a:moveTo>
                  <a:pt x="12192000" y="0"/>
                </a:moveTo>
                <a:lnTo>
                  <a:pt x="0" y="0"/>
                </a:lnTo>
                <a:lnTo>
                  <a:pt x="0" y="600455"/>
                </a:lnTo>
                <a:lnTo>
                  <a:pt x="12192000" y="6004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35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0" y="0"/>
            <a:ext cx="12191760" cy="600480"/>
          </a:xfrm>
          <a:custGeom>
            <a:rect b="b" l="l" r="r" t="t"/>
            <a:pathLst>
              <a:path extrusionOk="0" h="600710" w="12192000">
                <a:moveTo>
                  <a:pt x="0" y="600455"/>
                </a:moveTo>
                <a:lnTo>
                  <a:pt x="12192000" y="600455"/>
                </a:lnTo>
                <a:lnTo>
                  <a:pt x="12192000" y="0"/>
                </a:lnTo>
                <a:lnTo>
                  <a:pt x="0" y="0"/>
                </a:lnTo>
                <a:lnTo>
                  <a:pt x="0" y="600455"/>
                </a:lnTo>
                <a:close/>
              </a:path>
            </a:pathLst>
          </a:custGeom>
          <a:noFill/>
          <a:ln cap="flat" cmpd="sng" w="12700">
            <a:solidFill>
              <a:srgbClr val="30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0" y="6464880"/>
            <a:ext cx="12191760" cy="374760"/>
          </a:xfrm>
          <a:custGeom>
            <a:rect b="b" l="l" r="r" t="t"/>
            <a:pathLst>
              <a:path extrusionOk="0" h="375284" w="12192000">
                <a:moveTo>
                  <a:pt x="12192000" y="0"/>
                </a:moveTo>
                <a:lnTo>
                  <a:pt x="0" y="0"/>
                </a:lnTo>
                <a:lnTo>
                  <a:pt x="0" y="374903"/>
                </a:lnTo>
                <a:lnTo>
                  <a:pt x="12192000" y="374903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35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0" y="6464880"/>
            <a:ext cx="12191760" cy="374760"/>
          </a:xfrm>
          <a:custGeom>
            <a:rect b="b" l="l" r="r" t="t"/>
            <a:pathLst>
              <a:path extrusionOk="0" h="375284" w="12192000">
                <a:moveTo>
                  <a:pt x="0" y="374903"/>
                </a:moveTo>
                <a:lnTo>
                  <a:pt x="12192000" y="374903"/>
                </a:lnTo>
                <a:lnTo>
                  <a:pt x="12192000" y="0"/>
                </a:lnTo>
                <a:lnTo>
                  <a:pt x="0" y="0"/>
                </a:lnTo>
                <a:lnTo>
                  <a:pt x="0" y="374903"/>
                </a:lnTo>
                <a:close/>
              </a:path>
            </a:pathLst>
          </a:custGeom>
          <a:noFill/>
          <a:ln cap="flat" cmpd="sng" w="12700">
            <a:solidFill>
              <a:srgbClr val="30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/>
          <p:nvPr>
            <p:ph type="title"/>
          </p:nvPr>
        </p:nvSpPr>
        <p:spPr>
          <a:xfrm>
            <a:off x="1774080" y="5760"/>
            <a:ext cx="8643600" cy="5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461160" y="1088280"/>
            <a:ext cx="5223960" cy="287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575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4" name="Google Shape;34;p4"/>
          <p:cNvSpPr txBox="1"/>
          <p:nvPr>
            <p:ph idx="2" type="body"/>
          </p:nvPr>
        </p:nvSpPr>
        <p:spPr>
          <a:xfrm>
            <a:off x="6278760" y="1577520"/>
            <a:ext cx="5303160" cy="23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0035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0035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0035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0035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0035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4649040" y="6590160"/>
            <a:ext cx="2894040" cy="15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6" name="Google Shape;36;p4"/>
          <p:cNvSpPr txBox="1"/>
          <p:nvPr>
            <p:ph idx="10" type="dt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sz="18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11087280" y="6590160"/>
            <a:ext cx="213120" cy="15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0656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0"/>
            <a:ext cx="12191760" cy="600480"/>
          </a:xfrm>
          <a:custGeom>
            <a:rect b="b" l="l" r="r" t="t"/>
            <a:pathLst>
              <a:path extrusionOk="0" h="600710" w="12192000">
                <a:moveTo>
                  <a:pt x="12192000" y="0"/>
                </a:moveTo>
                <a:lnTo>
                  <a:pt x="0" y="0"/>
                </a:lnTo>
                <a:lnTo>
                  <a:pt x="0" y="600455"/>
                </a:lnTo>
                <a:lnTo>
                  <a:pt x="12192000" y="6004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35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0" y="0"/>
            <a:ext cx="12191760" cy="600480"/>
          </a:xfrm>
          <a:custGeom>
            <a:rect b="b" l="l" r="r" t="t"/>
            <a:pathLst>
              <a:path extrusionOk="0" h="600710" w="12192000">
                <a:moveTo>
                  <a:pt x="0" y="600455"/>
                </a:moveTo>
                <a:lnTo>
                  <a:pt x="12192000" y="600455"/>
                </a:lnTo>
                <a:lnTo>
                  <a:pt x="12192000" y="0"/>
                </a:lnTo>
                <a:lnTo>
                  <a:pt x="0" y="0"/>
                </a:lnTo>
                <a:lnTo>
                  <a:pt x="0" y="600455"/>
                </a:lnTo>
                <a:close/>
              </a:path>
            </a:pathLst>
          </a:custGeom>
          <a:noFill/>
          <a:ln cap="flat" cmpd="sng" w="12700">
            <a:solidFill>
              <a:srgbClr val="30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0" y="6464880"/>
            <a:ext cx="12191760" cy="374760"/>
          </a:xfrm>
          <a:custGeom>
            <a:rect b="b" l="l" r="r" t="t"/>
            <a:pathLst>
              <a:path extrusionOk="0" h="375284" w="12192000">
                <a:moveTo>
                  <a:pt x="12192000" y="0"/>
                </a:moveTo>
                <a:lnTo>
                  <a:pt x="0" y="0"/>
                </a:lnTo>
                <a:lnTo>
                  <a:pt x="0" y="374903"/>
                </a:lnTo>
                <a:lnTo>
                  <a:pt x="12192000" y="374903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35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0" y="6464880"/>
            <a:ext cx="12191760" cy="374760"/>
          </a:xfrm>
          <a:custGeom>
            <a:rect b="b" l="l" r="r" t="t"/>
            <a:pathLst>
              <a:path extrusionOk="0" h="375284" w="12192000">
                <a:moveTo>
                  <a:pt x="0" y="374903"/>
                </a:moveTo>
                <a:lnTo>
                  <a:pt x="12192000" y="374903"/>
                </a:lnTo>
                <a:lnTo>
                  <a:pt x="12192000" y="0"/>
                </a:lnTo>
                <a:lnTo>
                  <a:pt x="0" y="0"/>
                </a:lnTo>
                <a:lnTo>
                  <a:pt x="0" y="374903"/>
                </a:lnTo>
                <a:close/>
              </a:path>
            </a:pathLst>
          </a:custGeom>
          <a:noFill/>
          <a:ln cap="flat" cmpd="sng" w="12700">
            <a:solidFill>
              <a:srgbClr val="30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 txBox="1"/>
          <p:nvPr>
            <p:ph type="title"/>
          </p:nvPr>
        </p:nvSpPr>
        <p:spPr>
          <a:xfrm>
            <a:off x="1774080" y="5760"/>
            <a:ext cx="8643600" cy="5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4649040" y="6590160"/>
            <a:ext cx="2894040" cy="15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5" name="Google Shape;45;p5"/>
          <p:cNvSpPr txBox="1"/>
          <p:nvPr>
            <p:ph idx="10" type="dt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sz="18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11087280" y="6590160"/>
            <a:ext cx="213120" cy="15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0656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idx="11" type="ftr"/>
          </p:nvPr>
        </p:nvSpPr>
        <p:spPr>
          <a:xfrm>
            <a:off x="4649040" y="6590160"/>
            <a:ext cx="2894040" cy="15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" name="Google Shape;49;p6"/>
          <p:cNvSpPr txBox="1"/>
          <p:nvPr>
            <p:ph idx="10" type="dt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sz="18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11087280" y="6590160"/>
            <a:ext cx="213120" cy="15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0656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7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8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7"/>
          <p:cNvGrpSpPr/>
          <p:nvPr/>
        </p:nvGrpSpPr>
        <p:grpSpPr>
          <a:xfrm>
            <a:off x="0" y="0"/>
            <a:ext cx="12191760" cy="633960"/>
            <a:chOff x="0" y="0"/>
            <a:chExt cx="12191760" cy="633960"/>
          </a:xfrm>
        </p:grpSpPr>
        <p:sp>
          <p:nvSpPr>
            <p:cNvPr id="57" name="Google Shape;57;p7"/>
            <p:cNvSpPr/>
            <p:nvPr/>
          </p:nvSpPr>
          <p:spPr>
            <a:xfrm>
              <a:off x="0" y="0"/>
              <a:ext cx="12191760" cy="9000"/>
            </a:xfrm>
            <a:custGeom>
              <a:rect b="b" l="l" r="r" t="t"/>
              <a:pathLst>
                <a:path extrusionOk="0" h="9525" w="12192000">
                  <a:moveTo>
                    <a:pt x="0" y="9144"/>
                  </a:moveTo>
                  <a:lnTo>
                    <a:pt x="12192000" y="9144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9144"/>
                  </a:lnTo>
                  <a:close/>
                </a:path>
              </a:pathLst>
            </a:custGeom>
            <a:solidFill>
              <a:srgbClr val="00359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0" y="0"/>
              <a:ext cx="12191760" cy="600480"/>
            </a:xfrm>
            <a:custGeom>
              <a:rect b="b" l="l" r="r" t="t"/>
              <a:pathLst>
                <a:path extrusionOk="0" h="600710" w="12192000">
                  <a:moveTo>
                    <a:pt x="0" y="600455"/>
                  </a:moveTo>
                  <a:lnTo>
                    <a:pt x="12192000" y="60045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00455"/>
                  </a:lnTo>
                  <a:close/>
                </a:path>
              </a:pathLst>
            </a:custGeom>
            <a:noFill/>
            <a:ln cap="flat" cmpd="sng" w="12700">
              <a:solidFill>
                <a:srgbClr val="30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9" name="Google Shape;5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120" y="42840"/>
              <a:ext cx="2113560" cy="5911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7"/>
          <p:cNvSpPr/>
          <p:nvPr/>
        </p:nvSpPr>
        <p:spPr>
          <a:xfrm>
            <a:off x="2616120" y="255600"/>
            <a:ext cx="7377120" cy="3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Department of Information Science &amp; Engineering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2210040" y="1497960"/>
            <a:ext cx="8695440" cy="63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25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0359E"/>
                </a:solidFill>
                <a:latin typeface="Calibri"/>
                <a:ea typeface="Calibri"/>
                <a:cs typeface="Calibri"/>
                <a:sym typeface="Calibri"/>
              </a:rPr>
              <a:t>Hearty Welcome to Panel Members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" name="Google Shape;62;p7"/>
          <p:cNvGrpSpPr/>
          <p:nvPr/>
        </p:nvGrpSpPr>
        <p:grpSpPr>
          <a:xfrm>
            <a:off x="0" y="9000"/>
            <a:ext cx="12191760" cy="1470240"/>
            <a:chOff x="0" y="9000"/>
            <a:chExt cx="12191760" cy="1470240"/>
          </a:xfrm>
        </p:grpSpPr>
        <p:sp>
          <p:nvSpPr>
            <p:cNvPr id="63" name="Google Shape;63;p7"/>
            <p:cNvSpPr/>
            <p:nvPr/>
          </p:nvSpPr>
          <p:spPr>
            <a:xfrm>
              <a:off x="0" y="9000"/>
              <a:ext cx="12191760" cy="1470240"/>
            </a:xfrm>
            <a:custGeom>
              <a:rect b="b" l="l" r="r" t="t"/>
              <a:pathLst>
                <a:path extrusionOk="0" h="1470660" w="12192000">
                  <a:moveTo>
                    <a:pt x="12192000" y="0"/>
                  </a:moveTo>
                  <a:lnTo>
                    <a:pt x="0" y="0"/>
                  </a:lnTo>
                  <a:lnTo>
                    <a:pt x="0" y="1470659"/>
                  </a:lnTo>
                  <a:lnTo>
                    <a:pt x="12192000" y="147065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401B5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7"/>
            <p:cNvSpPr/>
            <p:nvPr/>
          </p:nvSpPr>
          <p:spPr>
            <a:xfrm>
              <a:off x="0" y="9000"/>
              <a:ext cx="12191760" cy="1470240"/>
            </a:xfrm>
            <a:custGeom>
              <a:rect b="b" l="l" r="r" t="t"/>
              <a:pathLst>
                <a:path extrusionOk="0" h="1470660" w="12192000">
                  <a:moveTo>
                    <a:pt x="0" y="1470659"/>
                  </a:moveTo>
                  <a:lnTo>
                    <a:pt x="12192000" y="147065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470659"/>
                  </a:lnTo>
                  <a:close/>
                </a:path>
              </a:pathLst>
            </a:custGeom>
            <a:noFill/>
            <a:ln cap="flat" cmpd="sng" w="12700">
              <a:solidFill>
                <a:srgbClr val="30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" name="Google Shape;65;p7"/>
          <p:cNvSpPr txBox="1"/>
          <p:nvPr>
            <p:ph type="title"/>
          </p:nvPr>
        </p:nvSpPr>
        <p:spPr>
          <a:xfrm>
            <a:off x="2943720" y="215280"/>
            <a:ext cx="766296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25">
            <a:spAutoFit/>
          </a:bodyPr>
          <a:lstStyle/>
          <a:p>
            <a:pPr indent="0" lvl="0" marL="12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lang="en-US" sz="2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RAMAIAH INSTITUTE OF TECHNOLOGY</a:t>
            </a:r>
            <a:endParaRPr b="0" sz="2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3341520" y="643680"/>
            <a:ext cx="687492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Department of Information Science and Engg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(An Autonomous Institution, Affiliated to VTU)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20" y="385560"/>
            <a:ext cx="2779560" cy="81648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11087280" y="6590160"/>
            <a:ext cx="21312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56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fld id="{00000000-1234-1234-1234-123412341234}" type="slidenum"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7"/>
          <p:cNvSpPr txBox="1"/>
          <p:nvPr>
            <p:ph idx="11" type="ftr"/>
          </p:nvPr>
        </p:nvSpPr>
        <p:spPr>
          <a:xfrm>
            <a:off x="4952880" y="6589800"/>
            <a:ext cx="289404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600" marR="0" rtl="0" algn="l">
              <a:lnSpc>
                <a:spcPct val="7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lang="en-US" sz="1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Dept. of ISE RIT  2025-26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2286000" y="2207520"/>
            <a:ext cx="7707240" cy="1248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Evaluation</a:t>
            </a:r>
            <a:br>
              <a:rPr lang="en-US" sz="2400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600" u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Capstone Life Villa Customisation Portal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4049640" y="3389760"/>
            <a:ext cx="4092840" cy="8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none" strike="noStrike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Sachit Reddy H (1MS22IS113)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1344960" y="4550760"/>
            <a:ext cx="3018600" cy="1614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Industry Guide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Rohit Rao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Technology Manager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Capstone Life, Bengaluru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8686800" y="4501080"/>
            <a:ext cx="2218320" cy="188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Internal Guide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JR Shruthi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Dept of ISE, RIT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3981600" y="4061160"/>
            <a:ext cx="4316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the Guidance of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7"/>
          <p:cNvSpPr txBox="1"/>
          <p:nvPr>
            <p:ph idx="10" type="dt"/>
          </p:nvPr>
        </p:nvSpPr>
        <p:spPr>
          <a:xfrm>
            <a:off x="304920" y="6515280"/>
            <a:ext cx="2803680" cy="2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lang="en-US" sz="1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05/06/2026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20" y="42840"/>
            <a:ext cx="211356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8"/>
          <p:cNvSpPr txBox="1"/>
          <p:nvPr>
            <p:ph type="title"/>
          </p:nvPr>
        </p:nvSpPr>
        <p:spPr>
          <a:xfrm>
            <a:off x="5626440" y="15480"/>
            <a:ext cx="1612440" cy="98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00">
            <a:spAutoFit/>
          </a:bodyPr>
          <a:lstStyle/>
          <a:p>
            <a:pPr indent="0" lvl="0" marL="1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sz="3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11087280" y="6590160"/>
            <a:ext cx="21312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56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fld id="{00000000-1234-1234-1234-123412341234}" type="slidenum"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8"/>
          <p:cNvSpPr txBox="1"/>
          <p:nvPr>
            <p:ph idx="11" type="ftr"/>
          </p:nvPr>
        </p:nvSpPr>
        <p:spPr>
          <a:xfrm>
            <a:off x="5181480" y="6590160"/>
            <a:ext cx="289404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60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Dept. of ISE RIT  2025-26</a:t>
            </a:r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1062360" y="1219320"/>
            <a:ext cx="9426960" cy="412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025">
            <a:noAutofit/>
          </a:bodyPr>
          <a:lstStyle/>
          <a:p>
            <a:pPr indent="-228600" lvl="0" marL="241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-US" sz="2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41200" marR="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-US" sz="2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41200" marR="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-US" sz="2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Scope and Objectives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41200" marR="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-US" sz="2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41200" marR="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-US" sz="2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41200" marR="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-US" sz="2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and Discussion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41200" marR="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-US" sz="2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None/>
            </a:pPr>
            <a:r>
              <a:t/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None/>
            </a:pPr>
            <a:r>
              <a:t/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8"/>
          <p:cNvSpPr txBox="1"/>
          <p:nvPr>
            <p:ph idx="10" type="dt"/>
          </p:nvPr>
        </p:nvSpPr>
        <p:spPr>
          <a:xfrm>
            <a:off x="304920" y="6515280"/>
            <a:ext cx="2803680" cy="2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lang="en-US" sz="1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05/06/2026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1774080" y="5760"/>
            <a:ext cx="8643600" cy="51408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12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sz="3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80" y="42840"/>
            <a:ext cx="211356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9"/>
          <p:cNvSpPr txBox="1"/>
          <p:nvPr>
            <p:ph idx="12" type="sldNum"/>
          </p:nvPr>
        </p:nvSpPr>
        <p:spPr>
          <a:xfrm>
            <a:off x="11087280" y="6590160"/>
            <a:ext cx="21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561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fld id="{00000000-1234-1234-1234-123412341234}" type="slidenum"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5181480" y="6590160"/>
            <a:ext cx="2894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60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Dept. of ISE RIT  2025-26</a:t>
            </a:r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9"/>
          <p:cNvSpPr txBox="1"/>
          <p:nvPr>
            <p:ph idx="10" type="dt"/>
          </p:nvPr>
        </p:nvSpPr>
        <p:spPr>
          <a:xfrm>
            <a:off x="304920" y="6515280"/>
            <a:ext cx="2803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lang="en-US" sz="1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05/06/2026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9"/>
          <p:cNvSpPr txBox="1"/>
          <p:nvPr/>
        </p:nvSpPr>
        <p:spPr>
          <a:xfrm>
            <a:off x="4246650" y="1471025"/>
            <a:ext cx="8078700" cy="2124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Villa customisation at Capstone Life was entirely manual — catalogues, spreadsheets, and in-person meetings.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MSR Phase 3 features luxury three-floor villas (East &amp; West Facing) needing a digital upgrade selection platform.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 full-stack web portal was built to digitise the end-to-end customisation journey for villa buyers.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The portal serves four user roles: Customer, Admin, CRM Admin, and Design Admin.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Internship conducted on-site at Capstone Life, Bengaluru with weekly mentor review sessions.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/>
          <p:nvPr>
            <p:ph type="title"/>
          </p:nvPr>
        </p:nvSpPr>
        <p:spPr>
          <a:xfrm>
            <a:off x="1774080" y="5760"/>
            <a:ext cx="8643600" cy="5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Problem Statement</a:t>
            </a:r>
            <a:endParaRPr/>
          </a:p>
        </p:txBody>
      </p:sp>
      <p:sp>
        <p:nvSpPr>
          <p:cNvPr id="106" name="Google Shape;106;p10"/>
          <p:cNvSpPr txBox="1"/>
          <p:nvPr>
            <p:ph idx="1" type="body"/>
          </p:nvPr>
        </p:nvSpPr>
        <p:spPr>
          <a:xfrm>
            <a:off x="1164500" y="871075"/>
            <a:ext cx="6298800" cy="335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1417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No digital platform existed for villa buyers to browse and select upgrade options independently.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Manual, catalogue-based process caused frequent miscommunication and selection errors.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Admin teams had no centralised system to track customer selections or generate itemised quotes.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solution needed to support: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en-US"/>
              <a:t>Multi-role access (Customer, Admin, CRM, Design)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en-US"/>
              <a:t>Room-level customisation navigation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en-US"/>
              <a:t>End-to-end quote lifecycle management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en-US"/>
              <a:t>Architectural drawing distribution</a:t>
            </a:r>
            <a:endParaRPr/>
          </a:p>
        </p:txBody>
      </p:sp>
      <p:pic>
        <p:nvPicPr>
          <p:cNvPr id="107" name="Google Shape;10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80" y="42840"/>
            <a:ext cx="211356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11087280" y="6590160"/>
            <a:ext cx="21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561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fld id="{00000000-1234-1234-1234-123412341234}" type="slidenum"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0"/>
          <p:cNvSpPr txBox="1"/>
          <p:nvPr>
            <p:ph idx="11" type="ftr"/>
          </p:nvPr>
        </p:nvSpPr>
        <p:spPr>
          <a:xfrm>
            <a:off x="5181480" y="6590160"/>
            <a:ext cx="2894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60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Dept. of ISE RIT  2025-26</a:t>
            </a:r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0"/>
          <p:cNvSpPr txBox="1"/>
          <p:nvPr>
            <p:ph idx="10" type="dt"/>
          </p:nvPr>
        </p:nvSpPr>
        <p:spPr>
          <a:xfrm>
            <a:off x="304920" y="6515280"/>
            <a:ext cx="2803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lang="en-US" sz="1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05/06/2026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"/>
          <p:cNvSpPr txBox="1"/>
          <p:nvPr>
            <p:ph type="title"/>
          </p:nvPr>
        </p:nvSpPr>
        <p:spPr>
          <a:xfrm>
            <a:off x="1774080" y="5760"/>
            <a:ext cx="8643600" cy="5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6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Scope and Objectives</a:t>
            </a:r>
            <a:endParaRPr/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087825" y="1210800"/>
            <a:ext cx="9799800" cy="41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1417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Build a production-ready full-stack portal for villa upgrade customisation.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Develop a customer hub covering 8 upgrade categories (Flooring, Bathroom, Smart Home, etc.).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Implement room-based navigation for: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Flooring Upgrades (individual &amp; packages)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Bathroom Upgrades (Sanitaryware &amp; CP Fittings)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Design a complete quote workflow from selection to acceptance.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Build role-specific admin panels for: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en-US"/>
              <a:t>Admin (full access)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en-US"/>
              <a:t>CRM Admin (customer &amp; quote management)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en-US"/>
              <a:t>Design Admin (drawing register)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en-US"/>
              <a:t>Deploy on Render with MongoDB Atlas as cloud database.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Support live use by Capstone Life customers and internal teams.</a:t>
            </a:r>
            <a:endParaRPr/>
          </a:p>
        </p:txBody>
      </p:sp>
      <p:pic>
        <p:nvPicPr>
          <p:cNvPr id="121" name="Google Shape;1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80" y="42840"/>
            <a:ext cx="211356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1"/>
          <p:cNvSpPr txBox="1"/>
          <p:nvPr>
            <p:ph idx="12" type="sldNum"/>
          </p:nvPr>
        </p:nvSpPr>
        <p:spPr>
          <a:xfrm>
            <a:off x="11087280" y="6590160"/>
            <a:ext cx="21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561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fld id="{00000000-1234-1234-1234-123412341234}" type="slidenum"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1"/>
          <p:cNvSpPr txBox="1"/>
          <p:nvPr>
            <p:ph idx="11" type="ftr"/>
          </p:nvPr>
        </p:nvSpPr>
        <p:spPr>
          <a:xfrm>
            <a:off x="5181480" y="6590160"/>
            <a:ext cx="2894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60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Dept. of ISE RIT  2025-26</a:t>
            </a:r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1"/>
          <p:cNvSpPr txBox="1"/>
          <p:nvPr>
            <p:ph idx="10" type="dt"/>
          </p:nvPr>
        </p:nvSpPr>
        <p:spPr>
          <a:xfrm>
            <a:off x="304920" y="6515280"/>
            <a:ext cx="2803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lang="en-US" sz="1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05/06/2026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 txBox="1"/>
          <p:nvPr>
            <p:ph type="title"/>
          </p:nvPr>
        </p:nvSpPr>
        <p:spPr>
          <a:xfrm>
            <a:off x="1774080" y="5760"/>
            <a:ext cx="8643600" cy="5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6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Methodology</a:t>
            </a:r>
            <a:endParaRPr/>
          </a:p>
        </p:txBody>
      </p:sp>
      <p:sp>
        <p:nvSpPr>
          <p:cNvPr id="131" name="Google Shape;131;p12"/>
          <p:cNvSpPr txBox="1"/>
          <p:nvPr>
            <p:ph idx="1" type="body"/>
          </p:nvPr>
        </p:nvSpPr>
        <p:spPr>
          <a:xfrm>
            <a:off x="1826640" y="1324080"/>
            <a:ext cx="85452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80035" lvl="0" marL="457200" rtl="0" algn="l">
              <a:spcBef>
                <a:spcPts val="1417"/>
              </a:spcBef>
              <a:spcAft>
                <a:spcPts val="0"/>
              </a:spcAft>
              <a:buSzPts val="810"/>
              <a:buAutoNum type="arabicPeriod"/>
            </a:pPr>
            <a:r>
              <a:rPr lang="en-US"/>
              <a:t>Adopted an iterative, feature-driven development approach with weekly mentor reviews.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AutoNum type="arabicPeriod"/>
            </a:pPr>
            <a:r>
              <a:rPr lang="en-US"/>
              <a:t>Selected React 19 + TypeScript (frontend) and Python FastAPI (backend) for the tech stack.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AutoNum type="arabicPeriod"/>
            </a:pPr>
            <a:r>
              <a:rPr lang="en-US"/>
              <a:t>Used MongoDB Atlas as the cloud-hosted NoSQL database with async Motor driver.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AutoNum type="arabicPeriod"/>
            </a:pPr>
            <a:r>
              <a:rPr lang="en-US"/>
              <a:t>Implemented JWT-based authentication (access + refresh tokens) with role-based access control.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AutoNum type="arabicPeriod"/>
            </a:pPr>
            <a:r>
              <a:rPr lang="en-US"/>
              <a:t>Developed and tested API endpoints incrementally using FastAPI’s Swagger UI (/docs).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AutoNum type="arabicPeriod"/>
            </a:pPr>
            <a:r>
              <a:rPr lang="en-US"/>
              <a:t>Seeded and patched the database using dedicated Python scripts for each category.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AutoNum type="arabicPeriod"/>
            </a:pPr>
            <a:r>
              <a:rPr lang="en-US"/>
              <a:t>Deployed progressively to Render (backend) and Render Static (frontend) with MongoDB Atlas.</a:t>
            </a:r>
            <a:endParaRPr/>
          </a:p>
        </p:txBody>
      </p:sp>
      <p:pic>
        <p:nvPicPr>
          <p:cNvPr id="132" name="Google Shape;13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80" y="42840"/>
            <a:ext cx="211356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2"/>
          <p:cNvSpPr txBox="1"/>
          <p:nvPr>
            <p:ph idx="12" type="sldNum"/>
          </p:nvPr>
        </p:nvSpPr>
        <p:spPr>
          <a:xfrm>
            <a:off x="11087280" y="6590160"/>
            <a:ext cx="21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561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fld id="{00000000-1234-1234-1234-123412341234}" type="slidenum"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2"/>
          <p:cNvSpPr txBox="1"/>
          <p:nvPr>
            <p:ph idx="11" type="ftr"/>
          </p:nvPr>
        </p:nvSpPr>
        <p:spPr>
          <a:xfrm>
            <a:off x="5181480" y="6590160"/>
            <a:ext cx="2894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60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Dept. of ISE RIT  2025-26</a:t>
            </a:r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2"/>
          <p:cNvSpPr txBox="1"/>
          <p:nvPr>
            <p:ph idx="10" type="dt"/>
          </p:nvPr>
        </p:nvSpPr>
        <p:spPr>
          <a:xfrm>
            <a:off x="304920" y="6515280"/>
            <a:ext cx="2803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lang="en-US" sz="1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05/06/2026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>
            <p:ph type="title"/>
          </p:nvPr>
        </p:nvSpPr>
        <p:spPr>
          <a:xfrm>
            <a:off x="1774080" y="5760"/>
            <a:ext cx="8643600" cy="5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6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Implementation</a:t>
            </a:r>
            <a:endParaRPr/>
          </a:p>
        </p:txBody>
      </p:sp>
      <p:sp>
        <p:nvSpPr>
          <p:cNvPr id="146" name="Google Shape;146;p13"/>
          <p:cNvSpPr txBox="1"/>
          <p:nvPr>
            <p:ph idx="1" type="body"/>
          </p:nvPr>
        </p:nvSpPr>
        <p:spPr>
          <a:xfrm>
            <a:off x="946925" y="1626773"/>
            <a:ext cx="8545200" cy="28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80035" lvl="0" marL="457200" rtl="0" algn="l">
              <a:spcBef>
                <a:spcPts val="1417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Built React SPA with TypeScript, Vite, React Router v7, Axios, and Lucide React icons.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Implemented:</a:t>
            </a:r>
            <a:endParaRPr/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−"/>
            </a:pPr>
            <a:r>
              <a:rPr lang="en-US"/>
              <a:t>JWT auth with 4 user roles and sessionStorage/localStorage token management</a:t>
            </a:r>
            <a:endParaRPr/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−"/>
            </a:pPr>
            <a:r>
              <a:rPr lang="en-US"/>
              <a:t>8-category Customisation Hub with room-based navigation for Flooring &amp; Bathroom</a:t>
            </a:r>
            <a:endParaRPr/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−"/>
            </a:pPr>
            <a:r>
              <a:rPr lang="en-US"/>
              <a:t>Selection persistence (upsert/remove/submit) via FastAPI REST API</a:t>
            </a:r>
            <a:endParaRPr/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−"/>
            </a:pPr>
            <a:r>
              <a:rPr lang="en-US"/>
              <a:t>Quote lifecycle: submission → admin pricing → customer acceptance/revision</a:t>
            </a:r>
            <a:endParaRPr/>
          </a:p>
          <a:p>
            <a:pPr indent="-28003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Built admin panels: Dashboard, Customer Mgmt, Quote Mgmt, Options, Drawing Register.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Created Python seeding &amp; patching scripts to populate and maintain the product catalogue.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Deployed backend (uvicorn) and frontend (Vite build) on Render with MongoDB Atlas.</a:t>
            </a:r>
            <a:endParaRPr/>
          </a:p>
        </p:txBody>
      </p:sp>
      <p:pic>
        <p:nvPicPr>
          <p:cNvPr id="147" name="Google Shape;14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80" y="42840"/>
            <a:ext cx="211356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3"/>
          <p:cNvSpPr txBox="1"/>
          <p:nvPr>
            <p:ph idx="12" type="sldNum"/>
          </p:nvPr>
        </p:nvSpPr>
        <p:spPr>
          <a:xfrm>
            <a:off x="11087280" y="6590160"/>
            <a:ext cx="21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561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fld id="{00000000-1234-1234-1234-123412341234}" type="slidenum"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13"/>
          <p:cNvSpPr txBox="1"/>
          <p:nvPr>
            <p:ph idx="11" type="ftr"/>
          </p:nvPr>
        </p:nvSpPr>
        <p:spPr>
          <a:xfrm>
            <a:off x="5181480" y="6590160"/>
            <a:ext cx="2894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60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Dept. of ISE RIT  2025-26</a:t>
            </a:r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3"/>
          <p:cNvSpPr txBox="1"/>
          <p:nvPr>
            <p:ph idx="10" type="dt"/>
          </p:nvPr>
        </p:nvSpPr>
        <p:spPr>
          <a:xfrm>
            <a:off x="304920" y="6515280"/>
            <a:ext cx="2803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lang="en-US" sz="1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05/06/2026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 txBox="1"/>
          <p:nvPr>
            <p:ph type="title"/>
          </p:nvPr>
        </p:nvSpPr>
        <p:spPr>
          <a:xfrm>
            <a:off x="1774080" y="5760"/>
            <a:ext cx="8643600" cy="5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6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Results and Discussion</a:t>
            </a:r>
            <a:endParaRPr/>
          </a:p>
        </p:txBody>
      </p:sp>
      <p:sp>
        <p:nvSpPr>
          <p:cNvPr id="158" name="Google Shape;158;p14"/>
          <p:cNvSpPr txBox="1"/>
          <p:nvPr>
            <p:ph idx="1" type="body"/>
          </p:nvPr>
        </p:nvSpPr>
        <p:spPr>
          <a:xfrm>
            <a:off x="1823400" y="2473500"/>
            <a:ext cx="8545200" cy="19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80035" lvl="0" marL="457200" rtl="0" algn="l">
              <a:spcBef>
                <a:spcPts val="1417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All 8 customisation categories implemented and deployed to live production on Render.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Room-based navigation dynamically derived from live MongoDB data — no hardcoding.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Quote workflow enabled seamless customer-admin interaction with dual notification flags.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Drawing Register replaced email-based plan distribution for all MSR Phase 3 villas.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Client-side Excel quotation generator (xlsx-js-style) delivered to customers on demand.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Portal is live and actively used by Capstone Life customers and internal team.</a:t>
            </a:r>
            <a:endParaRPr/>
          </a:p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80" y="42840"/>
            <a:ext cx="211356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4"/>
          <p:cNvSpPr txBox="1"/>
          <p:nvPr>
            <p:ph idx="12" type="sldNum"/>
          </p:nvPr>
        </p:nvSpPr>
        <p:spPr>
          <a:xfrm>
            <a:off x="11087280" y="5090160"/>
            <a:ext cx="21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561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fld id="{00000000-1234-1234-1234-123412341234}" type="slidenum"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4"/>
          <p:cNvSpPr txBox="1"/>
          <p:nvPr>
            <p:ph idx="11" type="ftr"/>
          </p:nvPr>
        </p:nvSpPr>
        <p:spPr>
          <a:xfrm>
            <a:off x="5181480" y="5090160"/>
            <a:ext cx="2894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60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Dept. of ISE RIT  2025-26</a:t>
            </a:r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14"/>
          <p:cNvSpPr txBox="1"/>
          <p:nvPr>
            <p:ph idx="10" type="dt"/>
          </p:nvPr>
        </p:nvSpPr>
        <p:spPr>
          <a:xfrm>
            <a:off x="304920" y="5015280"/>
            <a:ext cx="2803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lang="en-US" sz="1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05/06/2026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>
            <p:ph type="title"/>
          </p:nvPr>
        </p:nvSpPr>
        <p:spPr>
          <a:xfrm>
            <a:off x="1774080" y="5760"/>
            <a:ext cx="8643600" cy="5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6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Conclusion</a:t>
            </a:r>
            <a:endParaRPr/>
          </a:p>
        </p:txBody>
      </p:sp>
      <p:sp>
        <p:nvSpPr>
          <p:cNvPr id="169" name="Google Shape;169;p15"/>
          <p:cNvSpPr txBox="1"/>
          <p:nvPr>
            <p:ph idx="1" type="body"/>
          </p:nvPr>
        </p:nvSpPr>
        <p:spPr>
          <a:xfrm>
            <a:off x="1823275" y="1879950"/>
            <a:ext cx="8545200" cy="30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80035" lvl="0" marL="457200" rtl="0" algn="l">
              <a:spcBef>
                <a:spcPts val="1417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Successfully designed, developed and deployed the Capstone Life Villa Customisation Portal.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Delivered a production-ready full-stack system serving real customers and the internal team.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Demonstrated complete software lifecycle from requirements to cloud deployment.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Gained practical experience in:</a:t>
            </a:r>
            <a:endParaRPr/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−"/>
            </a:pPr>
            <a:r>
              <a:rPr lang="en-US"/>
              <a:t>Full-stack development (React 19 + TypeScript + FastAPI)</a:t>
            </a:r>
            <a:endParaRPr/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−"/>
            </a:pPr>
            <a:r>
              <a:rPr lang="en-US"/>
              <a:t>Cloud deployment (Render + MongoDB Atlas)</a:t>
            </a:r>
            <a:endParaRPr/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−"/>
            </a:pPr>
            <a:r>
              <a:rPr lang="en-US"/>
              <a:t>JWT authentication &amp; role-based access control</a:t>
            </a:r>
            <a:endParaRPr/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−"/>
            </a:pPr>
            <a:r>
              <a:rPr lang="en-US"/>
              <a:t>Iterative, feature-driven software delivery</a:t>
            </a:r>
            <a:endParaRPr/>
          </a:p>
          <a:p>
            <a:pPr indent="-28003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Future enhancements: email notifications, automated testing, and mobile-responsive redesign.</a:t>
            </a:r>
            <a:endParaRPr/>
          </a:p>
        </p:txBody>
      </p:sp>
      <p:pic>
        <p:nvPicPr>
          <p:cNvPr id="170" name="Google Shape;1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80" y="42840"/>
            <a:ext cx="211356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5"/>
          <p:cNvSpPr txBox="1"/>
          <p:nvPr>
            <p:ph idx="12" type="sldNum"/>
          </p:nvPr>
        </p:nvSpPr>
        <p:spPr>
          <a:xfrm>
            <a:off x="11087280" y="6590160"/>
            <a:ext cx="21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561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fld id="{00000000-1234-1234-1234-123412341234}" type="slidenum"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15"/>
          <p:cNvSpPr txBox="1"/>
          <p:nvPr>
            <p:ph idx="11" type="ftr"/>
          </p:nvPr>
        </p:nvSpPr>
        <p:spPr>
          <a:xfrm>
            <a:off x="5181480" y="6590160"/>
            <a:ext cx="2894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60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Dept. of ISE RIT  2025-26</a:t>
            </a:r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5"/>
          <p:cNvSpPr txBox="1"/>
          <p:nvPr>
            <p:ph idx="10" type="dt"/>
          </p:nvPr>
        </p:nvSpPr>
        <p:spPr>
          <a:xfrm>
            <a:off x="304920" y="6515280"/>
            <a:ext cx="2803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lang="en-US" sz="1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05/06/2026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/>
          <p:nvPr/>
        </p:nvSpPr>
        <p:spPr>
          <a:xfrm>
            <a:off x="914400" y="2629800"/>
            <a:ext cx="4033080" cy="101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00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sz="6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16"/>
          <p:cNvGrpSpPr/>
          <p:nvPr/>
        </p:nvGrpSpPr>
        <p:grpSpPr>
          <a:xfrm>
            <a:off x="5913000" y="0"/>
            <a:ext cx="6278400" cy="6857640"/>
            <a:chOff x="5913000" y="0"/>
            <a:chExt cx="6278400" cy="6857640"/>
          </a:xfrm>
        </p:grpSpPr>
        <p:sp>
          <p:nvSpPr>
            <p:cNvPr id="181" name="Google Shape;181;p16"/>
            <p:cNvSpPr/>
            <p:nvPr/>
          </p:nvSpPr>
          <p:spPr>
            <a:xfrm>
              <a:off x="5913000" y="0"/>
              <a:ext cx="6278400" cy="6857640"/>
            </a:xfrm>
            <a:custGeom>
              <a:rect b="b" l="l" r="r" t="t"/>
              <a:pathLst>
                <a:path extrusionOk="0" h="6858000" w="6278880">
                  <a:moveTo>
                    <a:pt x="6278880" y="0"/>
                  </a:moveTo>
                  <a:lnTo>
                    <a:pt x="45592" y="0"/>
                  </a:lnTo>
                  <a:lnTo>
                    <a:pt x="37210" y="65404"/>
                  </a:lnTo>
                  <a:lnTo>
                    <a:pt x="32444" y="113967"/>
                  </a:lnTo>
                  <a:lnTo>
                    <a:pt x="28000" y="162627"/>
                  </a:lnTo>
                  <a:lnTo>
                    <a:pt x="23880" y="211381"/>
                  </a:lnTo>
                  <a:lnTo>
                    <a:pt x="20084" y="260229"/>
                  </a:lnTo>
                  <a:lnTo>
                    <a:pt x="16613" y="309169"/>
                  </a:lnTo>
                  <a:lnTo>
                    <a:pt x="13469" y="358199"/>
                  </a:lnTo>
                  <a:lnTo>
                    <a:pt x="10651" y="407318"/>
                  </a:lnTo>
                  <a:lnTo>
                    <a:pt x="8162" y="456524"/>
                  </a:lnTo>
                  <a:lnTo>
                    <a:pt x="6002" y="505816"/>
                  </a:lnTo>
                  <a:lnTo>
                    <a:pt x="4172" y="555192"/>
                  </a:lnTo>
                  <a:lnTo>
                    <a:pt x="2672" y="604650"/>
                  </a:lnTo>
                  <a:lnTo>
                    <a:pt x="1504" y="654189"/>
                  </a:lnTo>
                  <a:lnTo>
                    <a:pt x="669" y="703807"/>
                  </a:lnTo>
                  <a:lnTo>
                    <a:pt x="167" y="753503"/>
                  </a:lnTo>
                  <a:lnTo>
                    <a:pt x="0" y="803275"/>
                  </a:lnTo>
                  <a:lnTo>
                    <a:pt x="182" y="855124"/>
                  </a:lnTo>
                  <a:lnTo>
                    <a:pt x="728" y="906888"/>
                  </a:lnTo>
                  <a:lnTo>
                    <a:pt x="1637" y="958563"/>
                  </a:lnTo>
                  <a:lnTo>
                    <a:pt x="2908" y="1010150"/>
                  </a:lnTo>
                  <a:lnTo>
                    <a:pt x="4539" y="1061647"/>
                  </a:lnTo>
                  <a:lnTo>
                    <a:pt x="6529" y="1113052"/>
                  </a:lnTo>
                  <a:lnTo>
                    <a:pt x="8877" y="1164365"/>
                  </a:lnTo>
                  <a:lnTo>
                    <a:pt x="11581" y="1215583"/>
                  </a:lnTo>
                  <a:lnTo>
                    <a:pt x="14641" y="1266707"/>
                  </a:lnTo>
                  <a:lnTo>
                    <a:pt x="18055" y="1317735"/>
                  </a:lnTo>
                  <a:lnTo>
                    <a:pt x="21822" y="1368665"/>
                  </a:lnTo>
                  <a:lnTo>
                    <a:pt x="25941" y="1419496"/>
                  </a:lnTo>
                  <a:lnTo>
                    <a:pt x="30411" y="1470228"/>
                  </a:lnTo>
                  <a:lnTo>
                    <a:pt x="35230" y="1520859"/>
                  </a:lnTo>
                  <a:lnTo>
                    <a:pt x="40397" y="1571387"/>
                  </a:lnTo>
                  <a:lnTo>
                    <a:pt x="45911" y="1621812"/>
                  </a:lnTo>
                  <a:lnTo>
                    <a:pt x="51771" y="1672132"/>
                  </a:lnTo>
                  <a:lnTo>
                    <a:pt x="57975" y="1722346"/>
                  </a:lnTo>
                  <a:lnTo>
                    <a:pt x="64523" y="1772453"/>
                  </a:lnTo>
                  <a:lnTo>
                    <a:pt x="71412" y="1822451"/>
                  </a:lnTo>
                  <a:lnTo>
                    <a:pt x="78643" y="1872340"/>
                  </a:lnTo>
                  <a:lnTo>
                    <a:pt x="86213" y="1922118"/>
                  </a:lnTo>
                  <a:lnTo>
                    <a:pt x="94122" y="1971784"/>
                  </a:lnTo>
                  <a:lnTo>
                    <a:pt x="102367" y="2021337"/>
                  </a:lnTo>
                  <a:lnTo>
                    <a:pt x="110949" y="2070776"/>
                  </a:lnTo>
                  <a:lnTo>
                    <a:pt x="119866" y="2120099"/>
                  </a:lnTo>
                  <a:lnTo>
                    <a:pt x="129116" y="2169304"/>
                  </a:lnTo>
                  <a:lnTo>
                    <a:pt x="138699" y="2218392"/>
                  </a:lnTo>
                  <a:lnTo>
                    <a:pt x="148612" y="2267361"/>
                  </a:lnTo>
                  <a:lnTo>
                    <a:pt x="158856" y="2316209"/>
                  </a:lnTo>
                  <a:lnTo>
                    <a:pt x="169428" y="2364935"/>
                  </a:lnTo>
                  <a:lnTo>
                    <a:pt x="180328" y="2413538"/>
                  </a:lnTo>
                  <a:lnTo>
                    <a:pt x="191555" y="2462018"/>
                  </a:lnTo>
                  <a:lnTo>
                    <a:pt x="203106" y="2510371"/>
                  </a:lnTo>
                  <a:lnTo>
                    <a:pt x="214981" y="2558598"/>
                  </a:lnTo>
                  <a:lnTo>
                    <a:pt x="227179" y="2606698"/>
                  </a:lnTo>
                  <a:lnTo>
                    <a:pt x="239698" y="2654668"/>
                  </a:lnTo>
                  <a:lnTo>
                    <a:pt x="252537" y="2702508"/>
                  </a:lnTo>
                  <a:lnTo>
                    <a:pt x="265696" y="2750217"/>
                  </a:lnTo>
                  <a:lnTo>
                    <a:pt x="279172" y="2797793"/>
                  </a:lnTo>
                  <a:lnTo>
                    <a:pt x="292965" y="2845235"/>
                  </a:lnTo>
                  <a:lnTo>
                    <a:pt x="307073" y="2892542"/>
                  </a:lnTo>
                  <a:lnTo>
                    <a:pt x="321495" y="2939713"/>
                  </a:lnTo>
                  <a:lnTo>
                    <a:pt x="336230" y="2986746"/>
                  </a:lnTo>
                  <a:lnTo>
                    <a:pt x="351277" y="3033640"/>
                  </a:lnTo>
                  <a:lnTo>
                    <a:pt x="366635" y="3080395"/>
                  </a:lnTo>
                  <a:lnTo>
                    <a:pt x="382301" y="3127008"/>
                  </a:lnTo>
                  <a:lnTo>
                    <a:pt x="398276" y="3173479"/>
                  </a:lnTo>
                  <a:lnTo>
                    <a:pt x="414558" y="3219806"/>
                  </a:lnTo>
                  <a:lnTo>
                    <a:pt x="431145" y="3265989"/>
                  </a:lnTo>
                  <a:lnTo>
                    <a:pt x="448037" y="3312025"/>
                  </a:lnTo>
                  <a:lnTo>
                    <a:pt x="465232" y="3357915"/>
                  </a:lnTo>
                  <a:lnTo>
                    <a:pt x="482729" y="3403655"/>
                  </a:lnTo>
                  <a:lnTo>
                    <a:pt x="500526" y="3449247"/>
                  </a:lnTo>
                  <a:lnTo>
                    <a:pt x="518624" y="3494687"/>
                  </a:lnTo>
                  <a:lnTo>
                    <a:pt x="537019" y="3539975"/>
                  </a:lnTo>
                  <a:lnTo>
                    <a:pt x="555712" y="3585110"/>
                  </a:lnTo>
                  <a:lnTo>
                    <a:pt x="574701" y="3630090"/>
                  </a:lnTo>
                  <a:lnTo>
                    <a:pt x="593984" y="3674914"/>
                  </a:lnTo>
                  <a:lnTo>
                    <a:pt x="613561" y="3719582"/>
                  </a:lnTo>
                  <a:lnTo>
                    <a:pt x="633430" y="3764091"/>
                  </a:lnTo>
                  <a:lnTo>
                    <a:pt x="653590" y="3808441"/>
                  </a:lnTo>
                  <a:lnTo>
                    <a:pt x="674040" y="3852631"/>
                  </a:lnTo>
                  <a:lnTo>
                    <a:pt x="694779" y="3896658"/>
                  </a:lnTo>
                  <a:lnTo>
                    <a:pt x="715805" y="3940523"/>
                  </a:lnTo>
                  <a:lnTo>
                    <a:pt x="737117" y="3984223"/>
                  </a:lnTo>
                  <a:lnTo>
                    <a:pt x="758715" y="4027758"/>
                  </a:lnTo>
                  <a:lnTo>
                    <a:pt x="780596" y="4071126"/>
                  </a:lnTo>
                  <a:lnTo>
                    <a:pt x="802760" y="4114326"/>
                  </a:lnTo>
                  <a:lnTo>
                    <a:pt x="825205" y="4157357"/>
                  </a:lnTo>
                  <a:lnTo>
                    <a:pt x="847930" y="4200218"/>
                  </a:lnTo>
                  <a:lnTo>
                    <a:pt x="870934" y="4242907"/>
                  </a:lnTo>
                  <a:lnTo>
                    <a:pt x="894216" y="4285424"/>
                  </a:lnTo>
                  <a:lnTo>
                    <a:pt x="917774" y="4327766"/>
                  </a:lnTo>
                  <a:lnTo>
                    <a:pt x="941607" y="4369934"/>
                  </a:lnTo>
                  <a:lnTo>
                    <a:pt x="965715" y="4411925"/>
                  </a:lnTo>
                  <a:lnTo>
                    <a:pt x="990095" y="4453738"/>
                  </a:lnTo>
                  <a:lnTo>
                    <a:pt x="1014747" y="4495372"/>
                  </a:lnTo>
                  <a:lnTo>
                    <a:pt x="1039670" y="4536827"/>
                  </a:lnTo>
                  <a:lnTo>
                    <a:pt x="1064861" y="4578100"/>
                  </a:lnTo>
                  <a:lnTo>
                    <a:pt x="1090321" y="4619191"/>
                  </a:lnTo>
                  <a:lnTo>
                    <a:pt x="1116047" y="4660098"/>
                  </a:lnTo>
                  <a:lnTo>
                    <a:pt x="1142039" y="4700820"/>
                  </a:lnTo>
                  <a:lnTo>
                    <a:pt x="1168296" y="4741356"/>
                  </a:lnTo>
                  <a:lnTo>
                    <a:pt x="1194815" y="4781704"/>
                  </a:lnTo>
                  <a:lnTo>
                    <a:pt x="1221596" y="4821865"/>
                  </a:lnTo>
                  <a:lnTo>
                    <a:pt x="1248639" y="4861835"/>
                  </a:lnTo>
                  <a:lnTo>
                    <a:pt x="1275940" y="4901614"/>
                  </a:lnTo>
                  <a:lnTo>
                    <a:pt x="1303500" y="4941202"/>
                  </a:lnTo>
                  <a:lnTo>
                    <a:pt x="1331317" y="4980595"/>
                  </a:lnTo>
                  <a:lnTo>
                    <a:pt x="1359389" y="5019795"/>
                  </a:lnTo>
                  <a:lnTo>
                    <a:pt x="1387717" y="5058798"/>
                  </a:lnTo>
                  <a:lnTo>
                    <a:pt x="1416297" y="5097604"/>
                  </a:lnTo>
                  <a:lnTo>
                    <a:pt x="1445130" y="5136212"/>
                  </a:lnTo>
                  <a:lnTo>
                    <a:pt x="1474214" y="5174621"/>
                  </a:lnTo>
                  <a:lnTo>
                    <a:pt x="1503548" y="5212829"/>
                  </a:lnTo>
                  <a:lnTo>
                    <a:pt x="1533130" y="5250834"/>
                  </a:lnTo>
                  <a:lnTo>
                    <a:pt x="1562960" y="5288637"/>
                  </a:lnTo>
                  <a:lnTo>
                    <a:pt x="1593035" y="5326236"/>
                  </a:lnTo>
                  <a:lnTo>
                    <a:pt x="1623356" y="5363629"/>
                  </a:lnTo>
                  <a:lnTo>
                    <a:pt x="1653920" y="5400815"/>
                  </a:lnTo>
                  <a:lnTo>
                    <a:pt x="1684727" y="5437793"/>
                  </a:lnTo>
                  <a:lnTo>
                    <a:pt x="1715775" y="5474562"/>
                  </a:lnTo>
                  <a:lnTo>
                    <a:pt x="1747063" y="5511120"/>
                  </a:lnTo>
                  <a:lnTo>
                    <a:pt x="1778590" y="5547467"/>
                  </a:lnTo>
                  <a:lnTo>
                    <a:pt x="1810354" y="5583601"/>
                  </a:lnTo>
                  <a:lnTo>
                    <a:pt x="1842355" y="5619522"/>
                  </a:lnTo>
                  <a:lnTo>
                    <a:pt x="1874591" y="5655226"/>
                  </a:lnTo>
                  <a:lnTo>
                    <a:pt x="1907061" y="5690715"/>
                  </a:lnTo>
                  <a:lnTo>
                    <a:pt x="1939764" y="5725985"/>
                  </a:lnTo>
                  <a:lnTo>
                    <a:pt x="1972698" y="5761037"/>
                  </a:lnTo>
                  <a:lnTo>
                    <a:pt x="2005863" y="5795868"/>
                  </a:lnTo>
                  <a:lnTo>
                    <a:pt x="2039257" y="5830478"/>
                  </a:lnTo>
                  <a:lnTo>
                    <a:pt x="2072878" y="5864866"/>
                  </a:lnTo>
                  <a:lnTo>
                    <a:pt x="2106727" y="5899030"/>
                  </a:lnTo>
                  <a:lnTo>
                    <a:pt x="2140800" y="5932969"/>
                  </a:lnTo>
                  <a:lnTo>
                    <a:pt x="2175098" y="5966681"/>
                  </a:lnTo>
                  <a:lnTo>
                    <a:pt x="2209620" y="6000167"/>
                  </a:lnTo>
                  <a:lnTo>
                    <a:pt x="2244363" y="6033423"/>
                  </a:lnTo>
                  <a:lnTo>
                    <a:pt x="2279326" y="6066450"/>
                  </a:lnTo>
                  <a:lnTo>
                    <a:pt x="2314509" y="6099246"/>
                  </a:lnTo>
                  <a:lnTo>
                    <a:pt x="2349910" y="6131809"/>
                  </a:lnTo>
                  <a:lnTo>
                    <a:pt x="2385528" y="6164139"/>
                  </a:lnTo>
                  <a:lnTo>
                    <a:pt x="2421362" y="6196234"/>
                  </a:lnTo>
                  <a:lnTo>
                    <a:pt x="2457411" y="6228093"/>
                  </a:lnTo>
                  <a:lnTo>
                    <a:pt x="2493672" y="6259716"/>
                  </a:lnTo>
                  <a:lnTo>
                    <a:pt x="2530146" y="6291099"/>
                  </a:lnTo>
                  <a:lnTo>
                    <a:pt x="2566831" y="6322244"/>
                  </a:lnTo>
                  <a:lnTo>
                    <a:pt x="2603725" y="6353147"/>
                  </a:lnTo>
                  <a:lnTo>
                    <a:pt x="2640828" y="6383808"/>
                  </a:lnTo>
                  <a:lnTo>
                    <a:pt x="2678138" y="6414227"/>
                  </a:lnTo>
                  <a:lnTo>
                    <a:pt x="2715654" y="6444400"/>
                  </a:lnTo>
                  <a:lnTo>
                    <a:pt x="2753375" y="6474329"/>
                  </a:lnTo>
                  <a:lnTo>
                    <a:pt x="2791300" y="6504010"/>
                  </a:lnTo>
                  <a:lnTo>
                    <a:pt x="2829427" y="6533443"/>
                  </a:lnTo>
                  <a:lnTo>
                    <a:pt x="2867755" y="6562627"/>
                  </a:lnTo>
                  <a:lnTo>
                    <a:pt x="2906283" y="6591560"/>
                  </a:lnTo>
                  <a:lnTo>
                    <a:pt x="2945010" y="6620242"/>
                  </a:lnTo>
                  <a:lnTo>
                    <a:pt x="2983934" y="6648671"/>
                  </a:lnTo>
                  <a:lnTo>
                    <a:pt x="3023055" y="6676846"/>
                  </a:lnTo>
                  <a:lnTo>
                    <a:pt x="3062371" y="6704765"/>
                  </a:lnTo>
                  <a:lnTo>
                    <a:pt x="3101880" y="6732428"/>
                  </a:lnTo>
                  <a:lnTo>
                    <a:pt x="3141583" y="6759833"/>
                  </a:lnTo>
                  <a:lnTo>
                    <a:pt x="3181477" y="6786979"/>
                  </a:lnTo>
                  <a:lnTo>
                    <a:pt x="3292348" y="6857999"/>
                  </a:lnTo>
                  <a:lnTo>
                    <a:pt x="6278880" y="6857999"/>
                  </a:lnTo>
                  <a:lnTo>
                    <a:pt x="6278880" y="0"/>
                  </a:lnTo>
                  <a:close/>
                </a:path>
              </a:pathLst>
            </a:custGeom>
            <a:solidFill>
              <a:srgbClr val="5B9BD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2" name="Google Shape;182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353360" y="2060280"/>
              <a:ext cx="4105440" cy="136836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